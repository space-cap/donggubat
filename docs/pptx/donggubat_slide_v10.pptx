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9189720" y="-411480"/>
            <a:ext cx="3520440" cy="7772400"/>
          </a:xfrm>
          <a:prstGeom prst="parallelogram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897880"/>
            <a:ext cx="1188720" cy="1188720"/>
          </a:xfrm>
          <a:prstGeom prst="ellipse">
            <a:avLst/>
          </a:prstGeom>
          <a:solidFill>
            <a:srgbClr val="B8D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>
                <a:solidFill>
                  <a:srgbClr val="2A5D43"/>
                </a:solidFill>
                <a:latin typeface="Malgun Gothic"/>
              </a:rPr>
              <a:t>SLIDE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6903720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2550" b="1">
                <a:solidFill>
                  <a:srgbClr val="252D2A"/>
                </a:solidFill>
                <a:latin typeface="Malgun Gothic"/>
              </a:rPr>
              <a:t>좋은 일을 넘어, 매일 쓰는 제품으로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664208"/>
            <a:ext cx="1097280" cy="41148"/>
          </a:xfrm>
          <a:prstGeom prst="rect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6839712" cy="285292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동구밭은 단순히 “착한 브랜드”로만 설명되지 않습니다.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발달장애인 고용이라는 사회적 미션에서 출발했지만,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소비자가 다시 선택하는 이유는 결국 제품 경험에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5047488"/>
            <a:ext cx="6876288" cy="804672"/>
          </a:xfrm>
          <a:prstGeom prst="roundRect">
            <a:avLst/>
          </a:prstGeom>
          <a:solidFill>
            <a:srgbClr val="13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157216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19" b="1">
                <a:solidFill>
                  <a:srgbClr val="B8D480"/>
                </a:solidFill>
                <a:latin typeface="Malgun Gothic"/>
              </a:rPr>
              <a:t>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76672"/>
            <a:ext cx="6355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1420" b="1">
                <a:solidFill>
                  <a:srgbClr val="FFFFFF"/>
                </a:solidFill>
                <a:latin typeface="Malgun Gothic"/>
              </a:rPr>
              <a:t>동구밭은 가치를 말하는 브랜드가 아니라, 가치를 제품으로 증명하는 브랜드입니다.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152144"/>
            <a:ext cx="3538728" cy="4773168"/>
          </a:xfrm>
          <a:prstGeom prst="roundRect">
            <a:avLst/>
          </a:prstGeom>
          <a:solidFill>
            <a:srgbClr val="EEF2E4"/>
          </a:solidFill>
          <a:ln w="12700">
            <a:solidFill>
              <a:srgbClr val="D3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389888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2A5D43"/>
                </a:solidFill>
                <a:latin typeface="Malgun Gothic"/>
              </a:rPr>
              <a:t>VISUAL DIRECTION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011680"/>
            <a:ext cx="822960" cy="914400"/>
          </a:xfrm>
          <a:prstGeom prst="roundRect">
            <a:avLst/>
          </a:prstGeom>
          <a:solidFill>
            <a:srgbClr val="2A5D4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3017520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30" b="1">
                <a:solidFill>
                  <a:srgbClr val="252D2A"/>
                </a:solidFill>
                <a:latin typeface="Malgun Gothic"/>
              </a:rPr>
              <a:t>샴푸바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17152" y="1874519"/>
            <a:ext cx="822960" cy="914400"/>
          </a:xfrm>
          <a:prstGeom prst="roundRect">
            <a:avLst/>
          </a:prstGeom>
          <a:solidFill>
            <a:srgbClr val="C9705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8864" y="2880360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30" b="1">
                <a:solidFill>
                  <a:srgbClr val="252D2A"/>
                </a:solidFill>
                <a:latin typeface="Malgun Gothic"/>
              </a:rPr>
              <a:t>비누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2157984"/>
            <a:ext cx="822960" cy="914400"/>
          </a:xfrm>
          <a:prstGeom prst="roundRect">
            <a:avLst/>
          </a:prstGeom>
          <a:solidFill>
            <a:srgbClr val="B8D48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94392" y="3163824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30" b="1">
                <a:solidFill>
                  <a:srgbClr val="252D2A"/>
                </a:solidFill>
                <a:latin typeface="Malgun Gothic"/>
              </a:rPr>
              <a:t>포장재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886200"/>
            <a:ext cx="256032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500" b="1">
                <a:solidFill>
                  <a:srgbClr val="134032"/>
                </a:solidFill>
                <a:latin typeface="Malgun Gothic"/>
              </a:rPr>
              <a:t>좋은 의미보다
먼저 만나는 제품 경험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5522976"/>
            <a:ext cx="2816352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819" b="0">
                <a:solidFill>
                  <a:srgbClr val="677068"/>
                </a:solidFill>
                <a:latin typeface="Malgun Gothic"/>
              </a:rPr>
              <a:t>고체 샴푸바, 비누, 친환경 포장재 이미지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28232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677068"/>
                </a:solidFill>
                <a:latin typeface="Malgun Gothic"/>
              </a:rPr>
              <a:t>01/10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6501384"/>
            <a:ext cx="9326880" cy="10972"/>
          </a:xfrm>
          <a:prstGeom prst="rect">
            <a:avLst/>
          </a:prstGeom>
          <a:solidFill>
            <a:srgbClr val="D6D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4200" y="6419088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lnSpc>
                <a:spcPct val="103000"/>
              </a:lnSpc>
            </a:pPr>
            <a:r>
              <a:rPr sz="850" b="1">
                <a:solidFill>
                  <a:srgbClr val="2A5D43"/>
                </a:solidFill>
                <a:latin typeface="Malgun Gothic"/>
              </a:rPr>
              <a:t>DONGGUBAT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9189720" y="-411480"/>
            <a:ext cx="3520440" cy="7772400"/>
          </a:xfrm>
          <a:prstGeom prst="parallelogram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897880"/>
            <a:ext cx="1188720" cy="1188720"/>
          </a:xfrm>
          <a:prstGeom prst="ellipse">
            <a:avLst/>
          </a:prstGeom>
          <a:solidFill>
            <a:srgbClr val="DC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>
                <a:solidFill>
                  <a:srgbClr val="2A5D43"/>
                </a:solidFill>
                <a:latin typeface="Malgun Gothic"/>
              </a:rP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6903720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2550" b="1">
                <a:solidFill>
                  <a:srgbClr val="252D2A"/>
                </a:solidFill>
                <a:latin typeface="Malgun Gothic"/>
              </a:rPr>
              <a:t>소비자는 이제 성분과 쓰레기를 함께 본다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664208"/>
            <a:ext cx="1097280" cy="41148"/>
          </a:xfrm>
          <a:prstGeom prst="rect">
            <a:avLst/>
          </a:prstGeom>
          <a:solidFill>
            <a:srgbClr val="C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6839712" cy="285292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생활용품 소비 기준이 바뀌고 있습니다.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예전에는 세정력과 가격이 중요했다면,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이제는 성분, 피부 자극, 플라스틱 쓰레기까지 함께 봅니다.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피부에 부담 없는 성분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플라스틱을 줄이는 소비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매일 써도 죄책감이 적은 제품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5047488"/>
            <a:ext cx="6876288" cy="804672"/>
          </a:xfrm>
          <a:prstGeom prst="roundRect">
            <a:avLst/>
          </a:prstGeom>
          <a:solidFill>
            <a:srgbClr val="13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157216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19" b="1">
                <a:solidFill>
                  <a:srgbClr val="B8D480"/>
                </a:solidFill>
                <a:latin typeface="Malgun Gothic"/>
              </a:rPr>
              <a:t>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76672"/>
            <a:ext cx="6355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1420" b="1">
                <a:solidFill>
                  <a:srgbClr val="FFFFFF"/>
                </a:solidFill>
                <a:latin typeface="Malgun Gothic"/>
              </a:rPr>
              <a:t>소비자는 더 깐깐해졌고, 생활용품도 가치와 경험을 함께 요구합니다.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152144"/>
            <a:ext cx="3538728" cy="4773168"/>
          </a:xfrm>
          <a:prstGeom prst="roundRect">
            <a:avLst/>
          </a:prstGeom>
          <a:solidFill>
            <a:srgbClr val="EEF2E4"/>
          </a:solidFill>
          <a:ln w="12700">
            <a:solidFill>
              <a:srgbClr val="D3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389888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2A5D43"/>
                </a:solidFill>
                <a:latin typeface="Malgun Gothic"/>
              </a:rPr>
              <a:t>VISUAL DIRECTION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965960"/>
            <a:ext cx="1298448" cy="713232"/>
          </a:xfrm>
          <a:prstGeom prst="roundRect">
            <a:avLst/>
          </a:prstGeom>
          <a:solidFill>
            <a:srgbClr val="E9E0CC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203704"/>
            <a:ext cx="1152144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100" b="1">
                <a:solidFill>
                  <a:srgbClr val="C97052"/>
                </a:solidFill>
                <a:latin typeface="Malgun Gothic"/>
              </a:rPr>
              <a:t>플라스틱 용기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1965960"/>
            <a:ext cx="129844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11512" y="2203704"/>
            <a:ext cx="1152144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100" b="1">
                <a:solidFill>
                  <a:srgbClr val="2A5D43"/>
                </a:solidFill>
                <a:latin typeface="Malgun Gothic"/>
              </a:rPr>
              <a:t>고체 제품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91472" y="2322576"/>
            <a:ext cx="219456" cy="0"/>
          </a:xfrm>
          <a:prstGeom prst="line">
            <a:avLst/>
          </a:prstGeom>
          <a:ln w="27940">
            <a:solidFill>
              <a:srgbClr val="C9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94192" y="3273552"/>
            <a:ext cx="658368" cy="502920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3406140"/>
            <a:ext cx="512063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134032"/>
                </a:solidFill>
                <a:latin typeface="Malgun Gothic"/>
              </a:rPr>
              <a:t>성분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7152" y="3273552"/>
            <a:ext cx="658368" cy="502920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3406140"/>
            <a:ext cx="512063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134032"/>
                </a:solidFill>
                <a:latin typeface="Malgun Gothic"/>
              </a:rPr>
              <a:t>피부 자극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40112" y="3273552"/>
            <a:ext cx="658368" cy="502920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13264" y="3406140"/>
            <a:ext cx="512063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134032"/>
                </a:solidFill>
                <a:latin typeface="Malgun Gothic"/>
              </a:rPr>
              <a:t>쓰레기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206240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500" b="1">
                <a:solidFill>
                  <a:srgbClr val="134032"/>
                </a:solidFill>
                <a:latin typeface="Malgun Gothic"/>
              </a:rPr>
              <a:t>소비 기준의 이동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5522976"/>
            <a:ext cx="2816352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819" b="0">
                <a:solidFill>
                  <a:srgbClr val="677068"/>
                </a:solidFill>
                <a:latin typeface="Malgun Gothic"/>
              </a:rPr>
              <a:t>욕실 플라스틱 용기 vs 고체 제품 비교 이미지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428232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677068"/>
                </a:solidFill>
                <a:latin typeface="Malgun Gothic"/>
              </a:rPr>
              <a:t>02/10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6501384"/>
            <a:ext cx="9326880" cy="10972"/>
          </a:xfrm>
          <a:prstGeom prst="rect">
            <a:avLst/>
          </a:prstGeom>
          <a:solidFill>
            <a:srgbClr val="D6D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44200" y="6419088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lnSpc>
                <a:spcPct val="103000"/>
              </a:lnSpc>
            </a:pPr>
            <a:r>
              <a:rPr sz="850" b="1">
                <a:solidFill>
                  <a:srgbClr val="2A5D43"/>
                </a:solidFill>
                <a:latin typeface="Malgun Gothic"/>
              </a:rPr>
              <a:t>DONGGUBAT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9189720" y="-411480"/>
            <a:ext cx="3520440" cy="7772400"/>
          </a:xfrm>
          <a:prstGeom prst="parallelogram">
            <a:avLst/>
          </a:prstGeom>
          <a:solidFill>
            <a:srgbClr val="C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897880"/>
            <a:ext cx="1188720" cy="1188720"/>
          </a:xfrm>
          <a:prstGeom prst="ellipse">
            <a:avLst/>
          </a:prstGeom>
          <a:solidFill>
            <a:srgbClr val="B8D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>
                <a:solidFill>
                  <a:srgbClr val="2A5D43"/>
                </a:solidFill>
                <a:latin typeface="Malgun Gothic"/>
              </a:rP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6903720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2550" b="1">
                <a:solidFill>
                  <a:srgbClr val="252D2A"/>
                </a:solidFill>
                <a:latin typeface="Malgun Gothic"/>
              </a:rPr>
              <a:t>액체 생활용품의 빈틈에서 고체가 자란다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664208"/>
            <a:ext cx="1097280" cy="41148"/>
          </a:xfrm>
          <a:prstGeom prst="rect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6839712" cy="285292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고체 샴푸바, 설거지바, 고체 비누는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익숙한 액체 제품의 대안으로 등장했습니다.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하지만 아직 소비자에게는 설명이 필요한 제품입니다.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650" b="1">
                <a:solidFill>
                  <a:srgbClr val="134032"/>
                </a:solidFill>
                <a:latin typeface="Malgun Gothic"/>
              </a:rPr>
              <a:t>“거품이 잘 날까?”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650" b="1">
                <a:solidFill>
                  <a:srgbClr val="134032"/>
                </a:solidFill>
                <a:latin typeface="Malgun Gothic"/>
              </a:rPr>
              <a:t>“쓰기 불편하지 않을까?”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650" b="1">
                <a:solidFill>
                  <a:srgbClr val="134032"/>
                </a:solidFill>
                <a:latin typeface="Malgun Gothic"/>
              </a:rPr>
              <a:t>“정말 세정력이 좋을까?”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650" b="1">
                <a:solidFill>
                  <a:srgbClr val="134032"/>
                </a:solidFill>
                <a:latin typeface="Malgun Gothic"/>
              </a:rPr>
              <a:t>“보관하다 무르지는 않을까?”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5047488"/>
            <a:ext cx="6876288" cy="804672"/>
          </a:xfrm>
          <a:prstGeom prst="roundRect">
            <a:avLst/>
          </a:prstGeom>
          <a:solidFill>
            <a:srgbClr val="13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157216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19" b="1">
                <a:solidFill>
                  <a:srgbClr val="B8D480"/>
                </a:solidFill>
                <a:latin typeface="Malgun Gothic"/>
              </a:rPr>
              <a:t>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76672"/>
            <a:ext cx="6355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1420" b="1">
                <a:solidFill>
                  <a:srgbClr val="FFFFFF"/>
                </a:solidFill>
                <a:latin typeface="Malgun Gothic"/>
              </a:rPr>
              <a:t>고체 생활용품 시장은 성장 가능성이 있지만, 첫 경험의 설득이 중요합니다.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152144"/>
            <a:ext cx="3538728" cy="4773168"/>
          </a:xfrm>
          <a:prstGeom prst="roundRect">
            <a:avLst/>
          </a:prstGeom>
          <a:solidFill>
            <a:srgbClr val="EEF2E4"/>
          </a:solidFill>
          <a:ln w="12700">
            <a:solidFill>
              <a:srgbClr val="D3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389888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2A5D43"/>
                </a:solidFill>
                <a:latin typeface="Malgun Gothic"/>
              </a:rPr>
              <a:t>VISUAL DIRECTION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1143000" cy="685800"/>
          </a:xfrm>
          <a:prstGeom prst="roundRect">
            <a:avLst/>
          </a:prstGeom>
          <a:solidFill>
            <a:srgbClr val="E9E0CC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144268"/>
            <a:ext cx="9966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100" b="1">
                <a:solidFill>
                  <a:srgbClr val="C97052"/>
                </a:solidFill>
                <a:latin typeface="Malgun Gothic"/>
              </a:rPr>
              <a:t>액체 샴푸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920240"/>
            <a:ext cx="960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2144268"/>
            <a:ext cx="81381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100" b="1">
                <a:solidFill>
                  <a:srgbClr val="2A5D43"/>
                </a:solidFill>
                <a:latin typeface="Malgun Gothic"/>
              </a:rPr>
              <a:t>샴푸바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54896" y="2267712"/>
            <a:ext cx="457200" cy="0"/>
          </a:xfrm>
          <a:prstGeom prst="line">
            <a:avLst/>
          </a:prstGeom>
          <a:ln w="27940">
            <a:solidFill>
              <a:srgbClr val="2A5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83879" y="3108960"/>
            <a:ext cx="1115568" cy="438912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3209544"/>
            <a:ext cx="969264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134032"/>
                </a:solidFill>
                <a:latin typeface="Malgun Gothic"/>
              </a:rPr>
              <a:t>거품?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3108960"/>
            <a:ext cx="1115568" cy="438912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3209544"/>
            <a:ext cx="969264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134032"/>
                </a:solidFill>
                <a:latin typeface="Malgun Gothic"/>
              </a:rPr>
              <a:t>불편?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822191"/>
            <a:ext cx="1115568" cy="438912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3922776"/>
            <a:ext cx="969264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134032"/>
                </a:solidFill>
                <a:latin typeface="Malgun Gothic"/>
              </a:rPr>
              <a:t>세정력?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5208" y="3822191"/>
            <a:ext cx="1115568" cy="438912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3922776"/>
            <a:ext cx="969264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134032"/>
                </a:solidFill>
                <a:latin typeface="Malgun Gothic"/>
              </a:rPr>
              <a:t>보관?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5522976"/>
            <a:ext cx="2816352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819" b="0">
                <a:solidFill>
                  <a:srgbClr val="677068"/>
                </a:solidFill>
                <a:latin typeface="Malgun Gothic"/>
              </a:rPr>
              <a:t>액체 샴푸병과 샴푸바를 나란히 배치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28232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677068"/>
                </a:solidFill>
                <a:latin typeface="Malgun Gothic"/>
              </a:rPr>
              <a:t>03/10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6501384"/>
            <a:ext cx="9326880" cy="10972"/>
          </a:xfrm>
          <a:prstGeom prst="rect">
            <a:avLst/>
          </a:prstGeom>
          <a:solidFill>
            <a:srgbClr val="D6D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6419088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lnSpc>
                <a:spcPct val="103000"/>
              </a:lnSpc>
            </a:pPr>
            <a:r>
              <a:rPr sz="850" b="1">
                <a:solidFill>
                  <a:srgbClr val="2A5D43"/>
                </a:solidFill>
                <a:latin typeface="Malgun Gothic"/>
              </a:rPr>
              <a:t>DONGGUBAT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9189720" y="-411480"/>
            <a:ext cx="3520440" cy="7772400"/>
          </a:xfrm>
          <a:prstGeom prst="parallelogram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897880"/>
            <a:ext cx="1188720" cy="1188720"/>
          </a:xfrm>
          <a:prstGeom prst="ellipse">
            <a:avLst/>
          </a:prstGeom>
          <a:solidFill>
            <a:srgbClr val="DC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>
                <a:solidFill>
                  <a:srgbClr val="2A5D43"/>
                </a:solidFill>
                <a:latin typeface="Malgun Gothic"/>
              </a:rP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6903720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2550" b="1">
                <a:solidFill>
                  <a:srgbClr val="252D2A"/>
                </a:solidFill>
                <a:latin typeface="Malgun Gothic"/>
              </a:rPr>
              <a:t>동구밭이 남기는 세 가지 흔적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664208"/>
            <a:ext cx="1097280" cy="41148"/>
          </a:xfrm>
          <a:prstGeom prst="rect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6839712" cy="285292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동구밭의 제품은 사용 후 세 가지를 남깁니다.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피부와 두피에 남는 산뜻한 사용감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생활 속 플라스틱을 줄이는 습관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발달장애인과 함께 만드는 일자리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동구밭은 비누만 만드는 회사가 아니라,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생활 속 선택을 바꾸는 브랜드입니다.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5047488"/>
            <a:ext cx="6876288" cy="804672"/>
          </a:xfrm>
          <a:prstGeom prst="roundRect">
            <a:avLst/>
          </a:prstGeom>
          <a:solidFill>
            <a:srgbClr val="13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157216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19" b="1">
                <a:solidFill>
                  <a:srgbClr val="B8D480"/>
                </a:solidFill>
                <a:latin typeface="Malgun Gothic"/>
              </a:rPr>
              <a:t>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76672"/>
            <a:ext cx="6355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1420" b="1">
                <a:solidFill>
                  <a:srgbClr val="FFFFFF"/>
                </a:solidFill>
                <a:latin typeface="Malgun Gothic"/>
              </a:rPr>
              <a:t>제품, 환경, 고용이 하나로 연결되는 브랜드입니다.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152144"/>
            <a:ext cx="3538728" cy="4773168"/>
          </a:xfrm>
          <a:prstGeom prst="roundRect">
            <a:avLst/>
          </a:prstGeom>
          <a:solidFill>
            <a:srgbClr val="EEF2E4"/>
          </a:solidFill>
          <a:ln w="12700">
            <a:solidFill>
              <a:srgbClr val="D3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389888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2A5D43"/>
                </a:solidFill>
                <a:latin typeface="Malgun Gothic"/>
              </a:rPr>
              <a:t>VISUAL DIRECTION</a:t>
            </a:r>
          </a:p>
        </p:txBody>
      </p:sp>
      <p:sp>
        <p:nvSpPr>
          <p:cNvPr id="13" name="Oval 12"/>
          <p:cNvSpPr/>
          <p:nvPr/>
        </p:nvSpPr>
        <p:spPr>
          <a:xfrm>
            <a:off x="8366760" y="2011680"/>
            <a:ext cx="786384" cy="786384"/>
          </a:xfrm>
          <a:prstGeom prst="ellipse">
            <a:avLst/>
          </a:prstGeom>
          <a:solidFill>
            <a:srgbClr val="2A5D4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258568"/>
            <a:ext cx="786384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100" b="1">
                <a:solidFill>
                  <a:srgbClr val="FFFFFF"/>
                </a:solidFill>
                <a:latin typeface="Malgun Gothic"/>
              </a:rPr>
              <a:t>제품</a:t>
            </a:r>
          </a:p>
        </p:txBody>
      </p:sp>
      <p:sp>
        <p:nvSpPr>
          <p:cNvPr id="15" name="Oval 14"/>
          <p:cNvSpPr/>
          <p:nvPr/>
        </p:nvSpPr>
        <p:spPr>
          <a:xfrm>
            <a:off x="9372600" y="2971800"/>
            <a:ext cx="786384" cy="786384"/>
          </a:xfrm>
          <a:prstGeom prst="ellipse">
            <a:avLst/>
          </a:prstGeom>
          <a:solidFill>
            <a:srgbClr val="B8D48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3218688"/>
            <a:ext cx="786384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100" b="1">
                <a:solidFill>
                  <a:srgbClr val="252D2A"/>
                </a:solidFill>
                <a:latin typeface="Malgun Gothic"/>
              </a:rPr>
              <a:t>환경</a:t>
            </a:r>
          </a:p>
        </p:txBody>
      </p:sp>
      <p:sp>
        <p:nvSpPr>
          <p:cNvPr id="17" name="Oval 16"/>
          <p:cNvSpPr/>
          <p:nvPr/>
        </p:nvSpPr>
        <p:spPr>
          <a:xfrm>
            <a:off x="10378440" y="3931920"/>
            <a:ext cx="786384" cy="786384"/>
          </a:xfrm>
          <a:prstGeom prst="ellipse">
            <a:avLst/>
          </a:prstGeom>
          <a:solidFill>
            <a:srgbClr val="C9705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4178808"/>
            <a:ext cx="786384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100" b="1">
                <a:solidFill>
                  <a:srgbClr val="FFFFFF"/>
                </a:solidFill>
                <a:latin typeface="Malgun Gothic"/>
              </a:rPr>
              <a:t>고용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34272" y="2606040"/>
            <a:ext cx="402336" cy="438912"/>
          </a:xfrm>
          <a:prstGeom prst="line">
            <a:avLst/>
          </a:prstGeom>
          <a:ln w="27940">
            <a:solidFill>
              <a:srgbClr val="134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40112" y="3566160"/>
            <a:ext cx="402336" cy="438912"/>
          </a:xfrm>
          <a:prstGeom prst="line">
            <a:avLst/>
          </a:prstGeom>
          <a:ln w="27940">
            <a:solidFill>
              <a:srgbClr val="134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11312" y="4754880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500" b="1">
                <a:solidFill>
                  <a:srgbClr val="134032"/>
                </a:solidFill>
                <a:latin typeface="Malgun Gothic"/>
              </a:rPr>
              <a:t>세 가지 흔적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5522976"/>
            <a:ext cx="2816352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819" b="0">
                <a:solidFill>
                  <a:srgbClr val="677068"/>
                </a:solidFill>
                <a:latin typeface="Malgun Gothic"/>
              </a:rPr>
              <a:t>제품 → 환경 → 사람으로 이어지는 간단한 흐름도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28232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677068"/>
                </a:solidFill>
                <a:latin typeface="Malgun Gothic"/>
              </a:rPr>
              <a:t>04/10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6501384"/>
            <a:ext cx="9326880" cy="10972"/>
          </a:xfrm>
          <a:prstGeom prst="rect">
            <a:avLst/>
          </a:prstGeom>
          <a:solidFill>
            <a:srgbClr val="D6D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44200" y="6419088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lnSpc>
                <a:spcPct val="103000"/>
              </a:lnSpc>
            </a:pPr>
            <a:r>
              <a:rPr sz="850" b="1">
                <a:solidFill>
                  <a:srgbClr val="2A5D43"/>
                </a:solidFill>
                <a:latin typeface="Malgun Gothic"/>
              </a:rPr>
              <a:t>DONGGUBAT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9189720" y="-411480"/>
            <a:ext cx="3520440" cy="7772400"/>
          </a:xfrm>
          <a:prstGeom prst="parallelogram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897880"/>
            <a:ext cx="1188720" cy="1188720"/>
          </a:xfrm>
          <a:prstGeom prst="ellipse">
            <a:avLst/>
          </a:prstGeom>
          <a:solidFill>
            <a:srgbClr val="B8D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>
                <a:solidFill>
                  <a:srgbClr val="2A5D43"/>
                </a:solidFill>
                <a:latin typeface="Malgun Gothic"/>
              </a:rP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6903720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2550" b="1">
                <a:solidFill>
                  <a:srgbClr val="252D2A"/>
                </a:solidFill>
                <a:latin typeface="Malgun Gothic"/>
              </a:rPr>
              <a:t>착한 이야기보다 먼저 오는 제품력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664208"/>
            <a:ext cx="1097280" cy="41148"/>
          </a:xfrm>
          <a:prstGeom prst="rect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6839712" cy="285292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동구밭의 강점은 좋은 취지에만 있지 않습니다.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수집 자료 기준으로 동구밭은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고체 화장품과 생활용품을 대량 생산할 수 있는 역량을 갖추고 있습니다.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월 40만~50만 개 수준의 생산 역량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고체 비누, 샴푸바, 설거지바 등 제품군 확장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대기업 납품 경험을 통한 품질 신뢰 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5047488"/>
            <a:ext cx="6876288" cy="804672"/>
          </a:xfrm>
          <a:prstGeom prst="roundRect">
            <a:avLst/>
          </a:prstGeom>
          <a:solidFill>
            <a:srgbClr val="13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157216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19" b="1">
                <a:solidFill>
                  <a:srgbClr val="B8D480"/>
                </a:solidFill>
                <a:latin typeface="Malgun Gothic"/>
              </a:rPr>
              <a:t>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76672"/>
            <a:ext cx="6355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1420" b="1">
                <a:solidFill>
                  <a:srgbClr val="FFFFFF"/>
                </a:solidFill>
                <a:latin typeface="Malgun Gothic"/>
              </a:rPr>
              <a:t>동구밭은 좋은 의미를 가진 브랜드이면서, 동시에 잘 만드는 브랜드입니다.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152144"/>
            <a:ext cx="3538728" cy="4773168"/>
          </a:xfrm>
          <a:prstGeom prst="roundRect">
            <a:avLst/>
          </a:prstGeom>
          <a:solidFill>
            <a:srgbClr val="EEF2E4"/>
          </a:solidFill>
          <a:ln w="12700">
            <a:solidFill>
              <a:srgbClr val="D3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389888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2A5D43"/>
                </a:solidFill>
                <a:latin typeface="Malgun Gothic"/>
              </a:rPr>
              <a:t>VISUAL DIRECTION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107899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961388"/>
            <a:ext cx="932688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60" b="1">
                <a:solidFill>
                  <a:srgbClr val="134032"/>
                </a:solidFill>
                <a:latin typeface="Malgun Gothic"/>
              </a:rPr>
              <a:t>생산 역량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828800"/>
            <a:ext cx="1353312" cy="502920"/>
          </a:xfrm>
          <a:prstGeom prst="roundRect">
            <a:avLst/>
          </a:prstGeom>
          <a:solidFill>
            <a:srgbClr val="2A5D43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37192" y="1961388"/>
            <a:ext cx="1207008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120" b="1">
                <a:solidFill>
                  <a:srgbClr val="FFFFFF"/>
                </a:solidFill>
                <a:latin typeface="Malgun Gothic"/>
              </a:rPr>
              <a:t>40~50만 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788920"/>
            <a:ext cx="107899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921508"/>
            <a:ext cx="932688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60" b="1">
                <a:solidFill>
                  <a:srgbClr val="134032"/>
                </a:solidFill>
                <a:latin typeface="Malgun Gothic"/>
              </a:rPr>
              <a:t>제품군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2788920"/>
            <a:ext cx="1353312" cy="502920"/>
          </a:xfrm>
          <a:prstGeom prst="roundRect">
            <a:avLst/>
          </a:prstGeom>
          <a:solidFill>
            <a:srgbClr val="C97052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2921508"/>
            <a:ext cx="1207008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120" b="1">
                <a:solidFill>
                  <a:srgbClr val="FFFFFF"/>
                </a:solidFill>
                <a:latin typeface="Malgun Gothic"/>
              </a:rPr>
              <a:t>확장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749039"/>
            <a:ext cx="107899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81628"/>
            <a:ext cx="932688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60" b="1">
                <a:solidFill>
                  <a:srgbClr val="134032"/>
                </a:solidFill>
                <a:latin typeface="Malgun Gothic"/>
              </a:rPr>
              <a:t>품질 신뢰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3749039"/>
            <a:ext cx="1353312" cy="502920"/>
          </a:xfrm>
          <a:prstGeom prst="roundRect">
            <a:avLst/>
          </a:prstGeom>
          <a:solidFill>
            <a:srgbClr val="B8D48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192" y="3881628"/>
            <a:ext cx="1207008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120" b="1">
                <a:solidFill>
                  <a:srgbClr val="252D2A"/>
                </a:solidFill>
                <a:latin typeface="Malgun Gothic"/>
              </a:rPr>
              <a:t>납품 경험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5522976"/>
            <a:ext cx="2816352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819" b="0">
                <a:solidFill>
                  <a:srgbClr val="677068"/>
                </a:solidFill>
                <a:latin typeface="Malgun Gothic"/>
              </a:rPr>
              <a:t>생산 공정, 비누 제조, 제품 진열 이미지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428232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677068"/>
                </a:solidFill>
                <a:latin typeface="Malgun Gothic"/>
              </a:rPr>
              <a:t>05/10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6501384"/>
            <a:ext cx="9326880" cy="10972"/>
          </a:xfrm>
          <a:prstGeom prst="rect">
            <a:avLst/>
          </a:prstGeom>
          <a:solidFill>
            <a:srgbClr val="D6D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44200" y="6419088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lnSpc>
                <a:spcPct val="103000"/>
              </a:lnSpc>
            </a:pPr>
            <a:r>
              <a:rPr sz="850" b="1">
                <a:solidFill>
                  <a:srgbClr val="2A5D43"/>
                </a:solidFill>
                <a:latin typeface="Malgun Gothic"/>
              </a:rPr>
              <a:t>DONGGUBAT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9189720" y="-411480"/>
            <a:ext cx="3520440" cy="7772400"/>
          </a:xfrm>
          <a:prstGeom prst="parallelogram">
            <a:avLst/>
          </a:prstGeom>
          <a:solidFill>
            <a:srgbClr val="C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897880"/>
            <a:ext cx="1188720" cy="1188720"/>
          </a:xfrm>
          <a:prstGeom prst="ellipse">
            <a:avLst/>
          </a:prstGeom>
          <a:solidFill>
            <a:srgbClr val="DC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>
                <a:solidFill>
                  <a:srgbClr val="2A5D43"/>
                </a:solidFill>
                <a:latin typeface="Malgun Gothic"/>
              </a:rP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6903720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2550" b="1">
                <a:solidFill>
                  <a:srgbClr val="252D2A"/>
                </a:solidFill>
                <a:latin typeface="Malgun Gothic"/>
              </a:rPr>
              <a:t>함께 일하는 방식 자체가 브랜드가 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664208"/>
            <a:ext cx="1097280" cy="41148"/>
          </a:xfrm>
          <a:prstGeom prst="rect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6839712" cy="285292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동구밭의 발달장애인 고용은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단순한 사회공헌 활동이 아닙니다.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>
                <a:solidFill>
                  <a:srgbClr val="252D2A"/>
                </a:solidFill>
                <a:latin typeface="Malgun Gothic"/>
              </a:rPr>
              <a:t>브랜드 운영 방식이자 생산 시스템의 일부입니다.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발달장애인과 비장애인이 함께 일하는 구조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사회복지사와 특수교육교사 등 지원 체계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5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50">
                <a:solidFill>
                  <a:srgbClr val="252D2A"/>
                </a:solidFill>
                <a:latin typeface="Malgun Gothic"/>
              </a:rPr>
              <a:t>지속 가능한 고용을 위한 조직 운영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5047488"/>
            <a:ext cx="6876288" cy="804672"/>
          </a:xfrm>
          <a:prstGeom prst="roundRect">
            <a:avLst/>
          </a:prstGeom>
          <a:solidFill>
            <a:srgbClr val="13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157216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19" b="1">
                <a:solidFill>
                  <a:srgbClr val="B8D480"/>
                </a:solidFill>
                <a:latin typeface="Malgun Gothic"/>
              </a:rPr>
              <a:t>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76672"/>
            <a:ext cx="6355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1420" b="1">
                <a:solidFill>
                  <a:srgbClr val="FFFFFF"/>
                </a:solidFill>
                <a:latin typeface="Malgun Gothic"/>
              </a:rPr>
              <a:t>동구밭의 미션은 광고 문구가 아니라, 실제 일하는 방식에 들어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152144"/>
            <a:ext cx="3538728" cy="4773168"/>
          </a:xfrm>
          <a:prstGeom prst="roundRect">
            <a:avLst/>
          </a:prstGeom>
          <a:solidFill>
            <a:srgbClr val="EEF2E4"/>
          </a:solidFill>
          <a:ln w="12700">
            <a:solidFill>
              <a:srgbClr val="D3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389888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2A5D43"/>
                </a:solidFill>
                <a:latin typeface="Malgun Gothic"/>
              </a:rPr>
              <a:t>VISUAL DIRECTION</a:t>
            </a:r>
          </a:p>
        </p:txBody>
      </p:sp>
      <p:sp>
        <p:nvSpPr>
          <p:cNvPr id="13" name="Oval 12"/>
          <p:cNvSpPr/>
          <p:nvPr/>
        </p:nvSpPr>
        <p:spPr>
          <a:xfrm>
            <a:off x="8366760" y="2057400"/>
            <a:ext cx="1024128" cy="1024128"/>
          </a:xfrm>
          <a:prstGeom prst="ellipse">
            <a:avLst/>
          </a:prstGeom>
          <a:solidFill>
            <a:srgbClr val="2A5D4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2441448"/>
            <a:ext cx="950976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FFFFFF"/>
                </a:solidFill>
                <a:latin typeface="Malgun Gothic"/>
              </a:rPr>
              <a:t>발달장애인</a:t>
            </a:r>
          </a:p>
        </p:txBody>
      </p:sp>
      <p:sp>
        <p:nvSpPr>
          <p:cNvPr id="15" name="Oval 14"/>
          <p:cNvSpPr/>
          <p:nvPr/>
        </p:nvSpPr>
        <p:spPr>
          <a:xfrm>
            <a:off x="9710928" y="2057400"/>
            <a:ext cx="1024128" cy="1024128"/>
          </a:xfrm>
          <a:prstGeom prst="ellipse">
            <a:avLst/>
          </a:prstGeom>
          <a:solidFill>
            <a:srgbClr val="C9705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47503" y="2441448"/>
            <a:ext cx="950976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FFFFFF"/>
                </a:solidFill>
                <a:latin typeface="Malgun Gothic"/>
              </a:rPr>
              <a:t>비장애인</a:t>
            </a:r>
          </a:p>
        </p:txBody>
      </p:sp>
      <p:sp>
        <p:nvSpPr>
          <p:cNvPr id="17" name="Oval 16"/>
          <p:cNvSpPr/>
          <p:nvPr/>
        </p:nvSpPr>
        <p:spPr>
          <a:xfrm>
            <a:off x="9034272" y="3255264"/>
            <a:ext cx="1024128" cy="1024128"/>
          </a:xfrm>
          <a:prstGeom prst="ellipse">
            <a:avLst/>
          </a:prstGeom>
          <a:solidFill>
            <a:srgbClr val="B8D48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3639312"/>
            <a:ext cx="950976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252D2A"/>
                </a:solidFill>
                <a:latin typeface="Malgun Gothic"/>
              </a:rPr>
              <a:t>지원 체계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35440" y="2560320"/>
            <a:ext cx="457200" cy="0"/>
          </a:xfrm>
          <a:prstGeom prst="line">
            <a:avLst/>
          </a:prstGeom>
          <a:ln w="27940">
            <a:solidFill>
              <a:srgbClr val="134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345168" y="2944368"/>
            <a:ext cx="164592" cy="310896"/>
          </a:xfrm>
          <a:prstGeom prst="line">
            <a:avLst/>
          </a:prstGeom>
          <a:ln w="27940">
            <a:solidFill>
              <a:srgbClr val="134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8823960" y="2944368"/>
            <a:ext cx="210312" cy="310896"/>
          </a:xfrm>
          <a:prstGeom prst="line">
            <a:avLst/>
          </a:prstGeom>
          <a:ln w="27940">
            <a:solidFill>
              <a:srgbClr val="134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94192" y="4663440"/>
            <a:ext cx="25603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450" b="1">
                <a:solidFill>
                  <a:srgbClr val="134032"/>
                </a:solidFill>
                <a:latin typeface="Malgun Gothic"/>
              </a:rPr>
              <a:t>일하는 방식이 브랜드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5522976"/>
            <a:ext cx="2816352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819" b="0">
                <a:solidFill>
                  <a:srgbClr val="677068"/>
                </a:solidFill>
                <a:latin typeface="Malgun Gothic"/>
              </a:rPr>
              <a:t>사람들이 함께 제품을 만드는 따뜻한 작업장 이미지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28232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677068"/>
                </a:solidFill>
                <a:latin typeface="Malgun Gothic"/>
              </a:rPr>
              <a:t>06/10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6501384"/>
            <a:ext cx="9326880" cy="10972"/>
          </a:xfrm>
          <a:prstGeom prst="rect">
            <a:avLst/>
          </a:prstGeom>
          <a:solidFill>
            <a:srgbClr val="D6D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44200" y="6419088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lnSpc>
                <a:spcPct val="103000"/>
              </a:lnSpc>
            </a:pPr>
            <a:r>
              <a:rPr sz="850" b="1">
                <a:solidFill>
                  <a:srgbClr val="2A5D43"/>
                </a:solidFill>
                <a:latin typeface="Malgun Gothic"/>
              </a:rPr>
              <a:t>DONGGUBAT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9189720" y="-411480"/>
            <a:ext cx="3520440" cy="7772400"/>
          </a:xfrm>
          <a:prstGeom prst="parallelogram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897880"/>
            <a:ext cx="1188720" cy="1188720"/>
          </a:xfrm>
          <a:prstGeom prst="ellipse">
            <a:avLst/>
          </a:prstGeom>
          <a:solidFill>
            <a:srgbClr val="B8D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>
                <a:solidFill>
                  <a:srgbClr val="2A5D43"/>
                </a:solidFill>
                <a:latin typeface="Malgun Gothic"/>
              </a:rPr>
              <a:t>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6903720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2550" b="1">
                <a:solidFill>
                  <a:srgbClr val="252D2A"/>
                </a:solidFill>
                <a:latin typeface="Malgun Gothic"/>
              </a:rPr>
              <a:t>리뷰는 좋은 의미보다 좋은 사용감을 말한다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664208"/>
            <a:ext cx="1097280" cy="41148"/>
          </a:xfrm>
          <a:prstGeom prst="rect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6839712" cy="285292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>
                <a:solidFill>
                  <a:srgbClr val="252D2A"/>
                </a:solidFill>
                <a:latin typeface="Malgun Gothic"/>
              </a:rPr>
              <a:t>소비자 리뷰에서 반복적으로 보이는 긍정 키워드는 명확합니다.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460">
                <a:solidFill>
                  <a:srgbClr val="252D2A"/>
                </a:solidFill>
                <a:latin typeface="Malgun Gothic"/>
              </a:rPr>
              <a:t>친환경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460">
                <a:solidFill>
                  <a:srgbClr val="252D2A"/>
                </a:solidFill>
                <a:latin typeface="Malgun Gothic"/>
              </a:rPr>
              <a:t>세정력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460">
                <a:solidFill>
                  <a:srgbClr val="252D2A"/>
                </a:solidFill>
                <a:latin typeface="Malgun Gothic"/>
              </a:rPr>
              <a:t>순한 성분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460">
                <a:solidFill>
                  <a:srgbClr val="252D2A"/>
                </a:solidFill>
                <a:latin typeface="Malgun Gothic"/>
              </a:rPr>
              <a:t>재구매 의도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460">
                <a:solidFill>
                  <a:srgbClr val="252D2A"/>
                </a:solidFill>
                <a:latin typeface="Malgun Gothic"/>
              </a:rPr>
              <a:t>브랜드 미션에 대한 공감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460">
                <a:solidFill>
                  <a:srgbClr val="252D2A"/>
                </a:solidFill>
                <a:latin typeface="Malgun Gothic"/>
              </a:rPr>
              <a:t>특히 설거지 워싱바는 리뷰 수와 평점이 높아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>
                <a:solidFill>
                  <a:srgbClr val="252D2A"/>
                </a:solidFill>
                <a:latin typeface="Malgun Gothic"/>
              </a:rPr>
              <a:t>동구밭의 대표 제품 역할을 하고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5047488"/>
            <a:ext cx="6876288" cy="804672"/>
          </a:xfrm>
          <a:prstGeom prst="roundRect">
            <a:avLst/>
          </a:prstGeom>
          <a:solidFill>
            <a:srgbClr val="13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157216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19" b="1">
                <a:solidFill>
                  <a:srgbClr val="B8D480"/>
                </a:solidFill>
                <a:latin typeface="Malgun Gothic"/>
              </a:rPr>
              <a:t>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76672"/>
            <a:ext cx="6355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1420" b="1">
                <a:solidFill>
                  <a:srgbClr val="FFFFFF"/>
                </a:solidFill>
                <a:latin typeface="Malgun Gothic"/>
              </a:rPr>
              <a:t>소비자는 동구밭을 ‘착해서’만 사는 것이 아니라, ‘써보니 좋아서’ 다시 삽니다.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152144"/>
            <a:ext cx="3538728" cy="4773168"/>
          </a:xfrm>
          <a:prstGeom prst="roundRect">
            <a:avLst/>
          </a:prstGeom>
          <a:solidFill>
            <a:srgbClr val="EEF2E4"/>
          </a:solidFill>
          <a:ln w="12700">
            <a:solidFill>
              <a:srgbClr val="D3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389888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2A5D43"/>
                </a:solidFill>
                <a:latin typeface="Malgun Gothic"/>
              </a:rPr>
              <a:t>VISUAL DIRECTION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1874519"/>
            <a:ext cx="1185062" cy="658368"/>
          </a:xfrm>
          <a:prstGeom prst="ellipse">
            <a:avLst/>
          </a:prstGeom>
          <a:solidFill>
            <a:srgbClr val="DCEEE0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91781"/>
            <a:ext cx="118506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134032"/>
                </a:solidFill>
                <a:latin typeface="Malgun Gothic"/>
              </a:rPr>
              <a:t>친환경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0" y="2176272"/>
            <a:ext cx="1020470" cy="566928"/>
          </a:xfrm>
          <a:prstGeom prst="ellipse">
            <a:avLst/>
          </a:prstGeom>
          <a:solidFill>
            <a:srgbClr val="2A5D43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363358"/>
            <a:ext cx="102047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FFFFFF"/>
                </a:solidFill>
                <a:latin typeface="Malgun Gothic"/>
              </a:rPr>
              <a:t>세정력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2953512"/>
            <a:ext cx="954633" cy="530352"/>
          </a:xfrm>
          <a:prstGeom prst="ellipse">
            <a:avLst/>
          </a:prstGeom>
          <a:solidFill>
            <a:srgbClr val="DCEEE0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3128528"/>
            <a:ext cx="954633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134032"/>
                </a:solidFill>
                <a:latin typeface="Malgun Gothic"/>
              </a:rPr>
              <a:t>순한 성분</a:t>
            </a:r>
          </a:p>
        </p:txBody>
      </p:sp>
      <p:sp>
        <p:nvSpPr>
          <p:cNvPr id="19" name="Oval 18"/>
          <p:cNvSpPr/>
          <p:nvPr/>
        </p:nvSpPr>
        <p:spPr>
          <a:xfrm>
            <a:off x="9921240" y="3063240"/>
            <a:ext cx="1053388" cy="585216"/>
          </a:xfrm>
          <a:prstGeom prst="ellipse">
            <a:avLst/>
          </a:prstGeom>
          <a:solidFill>
            <a:srgbClr val="DCEEE0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3256361"/>
            <a:ext cx="1053388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134032"/>
                </a:solidFill>
                <a:latin typeface="Malgun Gothic"/>
              </a:rPr>
              <a:t>재구매</a:t>
            </a:r>
          </a:p>
        </p:txBody>
      </p:sp>
      <p:sp>
        <p:nvSpPr>
          <p:cNvPr id="21" name="Oval 20"/>
          <p:cNvSpPr/>
          <p:nvPr/>
        </p:nvSpPr>
        <p:spPr>
          <a:xfrm>
            <a:off x="8366760" y="3822191"/>
            <a:ext cx="855878" cy="475488"/>
          </a:xfrm>
          <a:prstGeom prst="ellipse">
            <a:avLst/>
          </a:prstGeom>
          <a:solidFill>
            <a:srgbClr val="DCEEE0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979103"/>
            <a:ext cx="855878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134032"/>
                </a:solidFill>
                <a:latin typeface="Malgun Gothic"/>
              </a:rPr>
              <a:t>공감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617720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450" b="1">
                <a:solidFill>
                  <a:srgbClr val="134032"/>
                </a:solidFill>
                <a:latin typeface="Malgun Gothic"/>
              </a:rPr>
              <a:t>리뷰가 말하는 사용감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5522976"/>
            <a:ext cx="2816352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819" b="0">
                <a:solidFill>
                  <a:srgbClr val="677068"/>
                </a:solidFill>
                <a:latin typeface="Malgun Gothic"/>
              </a:rPr>
              <a:t>리뷰 키워드 워드클라우드 또는 별점 그래프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428232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677068"/>
                </a:solidFill>
                <a:latin typeface="Malgun Gothic"/>
              </a:rPr>
              <a:t>07/10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6501384"/>
            <a:ext cx="9326880" cy="10972"/>
          </a:xfrm>
          <a:prstGeom prst="rect">
            <a:avLst/>
          </a:prstGeom>
          <a:solidFill>
            <a:srgbClr val="D6D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44200" y="6419088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lnSpc>
                <a:spcPct val="103000"/>
              </a:lnSpc>
            </a:pPr>
            <a:r>
              <a:rPr sz="850" b="1">
                <a:solidFill>
                  <a:srgbClr val="2A5D43"/>
                </a:solidFill>
                <a:latin typeface="Malgun Gothic"/>
              </a:rPr>
              <a:t>DONGGUBAT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9189720" y="-411480"/>
            <a:ext cx="3520440" cy="7772400"/>
          </a:xfrm>
          <a:prstGeom prst="parallelogram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897880"/>
            <a:ext cx="1188720" cy="1188720"/>
          </a:xfrm>
          <a:prstGeom prst="ellipse">
            <a:avLst/>
          </a:prstGeom>
          <a:solidFill>
            <a:srgbClr val="DC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>
                <a:solidFill>
                  <a:srgbClr val="2A5D43"/>
                </a:solidFill>
                <a:latin typeface="Malgun Gothic"/>
              </a:rPr>
              <a:t>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6903720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2550" b="1">
                <a:solidFill>
                  <a:srgbClr val="252D2A"/>
                </a:solidFill>
                <a:latin typeface="Malgun Gothic"/>
              </a:rPr>
              <a:t>그래도 아직 넘어야 할 문턱이 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664208"/>
            <a:ext cx="1097280" cy="41148"/>
          </a:xfrm>
          <a:prstGeom prst="rect">
            <a:avLst/>
          </a:prstGeom>
          <a:solidFill>
            <a:srgbClr val="C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6839712" cy="285292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>
                <a:solidFill>
                  <a:srgbClr val="252D2A"/>
                </a:solidFill>
                <a:latin typeface="Malgun Gothic"/>
              </a:rPr>
              <a:t>동구밭 제품에도 소비자가 망설이는 지점은 있습니다.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460">
                <a:solidFill>
                  <a:srgbClr val="252D2A"/>
                </a:solidFill>
                <a:latin typeface="Malgun Gothic"/>
              </a:rPr>
              <a:t>고체 제품이 물러지는 문제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460">
                <a:solidFill>
                  <a:srgbClr val="252D2A"/>
                </a:solidFill>
                <a:latin typeface="Malgun Gothic"/>
              </a:rPr>
              <a:t>일반 제품보다 높게 느껴지는 가격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460">
                <a:solidFill>
                  <a:srgbClr val="252D2A"/>
                </a:solidFill>
                <a:latin typeface="Malgun Gothic"/>
              </a:rPr>
              <a:t>샴푸바 사용 초기의 적응 기간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460">
                <a:solidFill>
                  <a:srgbClr val="252D2A"/>
                </a:solidFill>
                <a:latin typeface="Malgun Gothic"/>
              </a:rPr>
              <a:t>거품과 사용감에 대한 낯섦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>
                <a:solidFill>
                  <a:srgbClr val="252D2A"/>
                </a:solidFill>
                <a:latin typeface="Malgun Gothic"/>
              </a:rPr>
              <a:t>이 문제는 제품 자체의 실패라기보다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>
                <a:solidFill>
                  <a:srgbClr val="252D2A"/>
                </a:solidFill>
                <a:latin typeface="Malgun Gothic"/>
              </a:rPr>
              <a:t>새로운 카테고리를 설명해야 하는 부담에 가깝습니다.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5047488"/>
            <a:ext cx="6876288" cy="804672"/>
          </a:xfrm>
          <a:prstGeom prst="roundRect">
            <a:avLst/>
          </a:prstGeom>
          <a:solidFill>
            <a:srgbClr val="13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157216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19" b="1">
                <a:solidFill>
                  <a:srgbClr val="B8D480"/>
                </a:solidFill>
                <a:latin typeface="Malgun Gothic"/>
              </a:rPr>
              <a:t>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76672"/>
            <a:ext cx="6355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1420" b="1">
                <a:solidFill>
                  <a:srgbClr val="FFFFFF"/>
                </a:solidFill>
                <a:latin typeface="Malgun Gothic"/>
              </a:rPr>
              <a:t>동구밭의 과제는 제품을 더 좋게 만드는 것과 동시에, 사용법을 더 쉽게 이해시키는 것입니다.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152144"/>
            <a:ext cx="3538728" cy="4773168"/>
          </a:xfrm>
          <a:prstGeom prst="roundRect">
            <a:avLst/>
          </a:prstGeom>
          <a:solidFill>
            <a:srgbClr val="EEF2E4"/>
          </a:solidFill>
          <a:ln w="12700">
            <a:solidFill>
              <a:srgbClr val="D3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389888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2A5D43"/>
                </a:solidFill>
                <a:latin typeface="Malgun Gothic"/>
              </a:rPr>
              <a:t>VISUAL DIRECTION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965960"/>
            <a:ext cx="1243584" cy="594360"/>
          </a:xfrm>
          <a:prstGeom prst="roundRect">
            <a:avLst/>
          </a:prstGeom>
          <a:solidFill>
            <a:srgbClr val="E9E0CC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2144268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1">
                <a:solidFill>
                  <a:srgbClr val="C97052"/>
                </a:solidFill>
                <a:latin typeface="Malgun Gothic"/>
              </a:rPr>
              <a:t>사용 전 걱정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1965960"/>
            <a:ext cx="1243584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11512" y="2144268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1">
                <a:solidFill>
                  <a:srgbClr val="2A5D43"/>
                </a:solidFill>
                <a:latin typeface="Malgun Gothic"/>
              </a:rPr>
              <a:t>사용 후 만족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45752" y="2276856"/>
            <a:ext cx="274320" cy="0"/>
          </a:xfrm>
          <a:prstGeom prst="line">
            <a:avLst/>
          </a:prstGeom>
          <a:ln w="27940">
            <a:solidFill>
              <a:srgbClr val="134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0" y="3090672"/>
            <a:ext cx="1005840" cy="420624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3182112"/>
            <a:ext cx="85953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30" b="1">
                <a:solidFill>
                  <a:srgbClr val="134032"/>
                </a:solidFill>
                <a:latin typeface="Malgun Gothic"/>
              </a:rPr>
              <a:t>무름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3090672"/>
            <a:ext cx="1005840" cy="420624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0072" y="3182112"/>
            <a:ext cx="85953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30" b="1">
                <a:solidFill>
                  <a:srgbClr val="134032"/>
                </a:solidFill>
                <a:latin typeface="Malgun Gothic"/>
              </a:rPr>
              <a:t>가격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776472"/>
            <a:ext cx="1005840" cy="420624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3867912"/>
            <a:ext cx="85953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30" b="1">
                <a:solidFill>
                  <a:srgbClr val="134032"/>
                </a:solidFill>
                <a:latin typeface="Malgun Gothic"/>
              </a:rPr>
              <a:t>적응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3776472"/>
            <a:ext cx="1005840" cy="420624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3867912"/>
            <a:ext cx="85953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30" b="1">
                <a:solidFill>
                  <a:srgbClr val="134032"/>
                </a:solidFill>
                <a:latin typeface="Malgun Gothic"/>
              </a:rPr>
              <a:t>거품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5522976"/>
            <a:ext cx="2816352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819" b="0">
                <a:solidFill>
                  <a:srgbClr val="677068"/>
                </a:solidFill>
                <a:latin typeface="Malgun Gothic"/>
              </a:rPr>
              <a:t>“사용 전 걱정 → 사용 후 만족” 비교 화면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28232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677068"/>
                </a:solidFill>
                <a:latin typeface="Malgun Gothic"/>
              </a:rPr>
              <a:t>08/10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6501384"/>
            <a:ext cx="9326880" cy="10972"/>
          </a:xfrm>
          <a:prstGeom prst="rect">
            <a:avLst/>
          </a:prstGeom>
          <a:solidFill>
            <a:srgbClr val="D6D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6419088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lnSpc>
                <a:spcPct val="103000"/>
              </a:lnSpc>
            </a:pPr>
            <a:r>
              <a:rPr sz="850" b="1">
                <a:solidFill>
                  <a:srgbClr val="2A5D43"/>
                </a:solidFill>
                <a:latin typeface="Malgun Gothic"/>
              </a:rPr>
              <a:t>DONGGUBAT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9189720" y="-411480"/>
            <a:ext cx="3520440" cy="7772400"/>
          </a:xfrm>
          <a:prstGeom prst="parallelogram">
            <a:avLst/>
          </a:prstGeom>
          <a:solidFill>
            <a:srgbClr val="C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897880"/>
            <a:ext cx="1188720" cy="1188720"/>
          </a:xfrm>
          <a:prstGeom prst="ellipse">
            <a:avLst/>
          </a:prstGeom>
          <a:solidFill>
            <a:srgbClr val="B8D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>
                <a:solidFill>
                  <a:srgbClr val="2A5D43"/>
                </a:solidFill>
                <a:latin typeface="Malgun Gothic"/>
              </a:rPr>
              <a:t>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6903720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2550" b="1">
                <a:solidFill>
                  <a:srgbClr val="252D2A"/>
                </a:solidFill>
                <a:latin typeface="Malgun Gothic"/>
              </a:rPr>
              <a:t>오후가 되면 머리가 먼저 신경 쓰이는 사람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664208"/>
            <a:ext cx="1097280" cy="41148"/>
          </a:xfrm>
          <a:prstGeom prst="rect">
            <a:avLst/>
          </a:prstGeom>
          <a:solidFill>
            <a:srgbClr val="C9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6839712" cy="285292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252D2A"/>
                </a:solidFill>
                <a:latin typeface="Malgun Gothic"/>
              </a:rPr>
              <a:t>대표 페르소나는 지성 두피를 가진 30대 직장인 김지현입니다.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252D2A"/>
                </a:solidFill>
                <a:latin typeface="Malgun Gothic"/>
              </a:rPr>
              <a:t>지현은 오후가 되면 머리 떡짐, 정수리 냄새, 가려움이 신경 쓰입니다.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252D2A"/>
                </a:solidFill>
                <a:latin typeface="Malgun Gothic"/>
              </a:rPr>
              <a:t>하지만 아무 샴푸나 고르지는 않습니다.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00">
                <a:solidFill>
                  <a:srgbClr val="252D2A"/>
                </a:solidFill>
                <a:latin typeface="Malgun Gothic"/>
              </a:rPr>
              <a:t>두피는 개운했으면 좋겠고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2A5D43"/>
                </a:solidFill>
                <a:latin typeface="Malgun Gothic"/>
              </a:rPr>
              <a:t>• </a:t>
            </a:r>
            <a:r>
              <a:rPr sz="1500">
                <a:solidFill>
                  <a:srgbClr val="252D2A"/>
                </a:solidFill>
                <a:latin typeface="Malgun Gothic"/>
              </a:rPr>
              <a:t>성분은 순했으면 좋겠고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500">
                <a:solidFill>
                  <a:srgbClr val="252D2A"/>
                </a:solidFill>
                <a:latin typeface="Malgun Gothic"/>
              </a:rPr>
              <a:t>가능하면 환경에도 덜 미안한 제품이면 좋겠습니다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5047488"/>
            <a:ext cx="6876288" cy="804672"/>
          </a:xfrm>
          <a:prstGeom prst="roundRect">
            <a:avLst/>
          </a:prstGeom>
          <a:solidFill>
            <a:srgbClr val="13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157216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19" b="1">
                <a:solidFill>
                  <a:srgbClr val="B8D480"/>
                </a:solidFill>
                <a:latin typeface="Malgun Gothic"/>
              </a:rPr>
              <a:t>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76672"/>
            <a:ext cx="6355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1420" b="1">
                <a:solidFill>
                  <a:srgbClr val="FFFFFF"/>
                </a:solidFill>
                <a:latin typeface="Malgun Gothic"/>
              </a:rPr>
              <a:t>지현의 고민은 단순한 두피 문제가 아니라, 성분과 가치소비까지 연결된 생활 문제입니다.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152144"/>
            <a:ext cx="3538728" cy="4773168"/>
          </a:xfrm>
          <a:prstGeom prst="roundRect">
            <a:avLst/>
          </a:prstGeom>
          <a:solidFill>
            <a:srgbClr val="EEF2E4"/>
          </a:solidFill>
          <a:ln w="12700">
            <a:solidFill>
              <a:srgbClr val="D3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389888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2A5D43"/>
                </a:solidFill>
                <a:latin typeface="Malgun Gothic"/>
              </a:rPr>
              <a:t>VISUAL DIRECTION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1828800"/>
            <a:ext cx="1051560" cy="1051560"/>
          </a:xfrm>
          <a:prstGeom prst="ellipse">
            <a:avLst/>
          </a:prstGeom>
          <a:solidFill>
            <a:srgbClr val="2A5D43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17627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지현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1874519"/>
            <a:ext cx="12344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8632" y="1965960"/>
            <a:ext cx="108813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134032"/>
                </a:solidFill>
                <a:latin typeface="Malgun Gothic"/>
              </a:rPr>
              <a:t>떡짐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2532887"/>
            <a:ext cx="12344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28632" y="2624327"/>
            <a:ext cx="108813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134032"/>
                </a:solidFill>
                <a:latin typeface="Malgun Gothic"/>
              </a:rPr>
              <a:t>정수리 냄새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3191256"/>
            <a:ext cx="12344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32" y="3282696"/>
            <a:ext cx="108813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>
                <a:solidFill>
                  <a:srgbClr val="134032"/>
                </a:solidFill>
                <a:latin typeface="Malgun Gothic"/>
              </a:rPr>
              <a:t>가려움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70832"/>
            <a:ext cx="27432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450" b="1">
                <a:solidFill>
                  <a:srgbClr val="134032"/>
                </a:solidFill>
                <a:latin typeface="Malgun Gothic"/>
              </a:rPr>
              <a:t>30대 직장인의
오후 두피 고민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5522976"/>
            <a:ext cx="2816352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819" b="0">
                <a:solidFill>
                  <a:srgbClr val="677068"/>
                </a:solidFill>
                <a:latin typeface="Malgun Gothic"/>
              </a:rPr>
              <a:t>사무실에서 머리 상태를 신경 쓰는 직장인 이미지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28232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677068"/>
                </a:solidFill>
                <a:latin typeface="Malgun Gothic"/>
              </a:rPr>
              <a:t>09/10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6501384"/>
            <a:ext cx="9326880" cy="10972"/>
          </a:xfrm>
          <a:prstGeom prst="rect">
            <a:avLst/>
          </a:prstGeom>
          <a:solidFill>
            <a:srgbClr val="D6D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44200" y="6419088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lnSpc>
                <a:spcPct val="103000"/>
              </a:lnSpc>
            </a:pPr>
            <a:r>
              <a:rPr sz="850" b="1">
                <a:solidFill>
                  <a:srgbClr val="2A5D43"/>
                </a:solidFill>
                <a:latin typeface="Malgun Gothic"/>
              </a:rPr>
              <a:t>DONGGUBAT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9189720" y="-411480"/>
            <a:ext cx="3520440" cy="7772400"/>
          </a:xfrm>
          <a:prstGeom prst="parallelogram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897880"/>
            <a:ext cx="1188720" cy="1188720"/>
          </a:xfrm>
          <a:prstGeom prst="ellipse">
            <a:avLst/>
          </a:prstGeom>
          <a:solidFill>
            <a:srgbClr val="DC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>
                <a:solidFill>
                  <a:srgbClr val="2A5D43"/>
                </a:solidFill>
                <a:latin typeface="Malgun Gothic"/>
              </a:rPr>
              <a:t>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6903720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2550" b="1">
                <a:solidFill>
                  <a:srgbClr val="252D2A"/>
                </a:solidFill>
                <a:latin typeface="Malgun Gothic"/>
              </a:rPr>
              <a:t>지현이 동구밭을 선택하는 순간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664208"/>
            <a:ext cx="1097280" cy="41148"/>
          </a:xfrm>
          <a:prstGeom prst="rect">
            <a:avLst/>
          </a:prstGeom>
          <a:solidFill>
            <a:srgbClr val="2A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6839712" cy="285292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>
                <a:solidFill>
                  <a:srgbClr val="252D2A"/>
                </a:solidFill>
                <a:latin typeface="Malgun Gothic"/>
              </a:rPr>
              <a:t>지현에게 동구밭은 단순한 친환경 브랜드가 아닙니다.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>
                <a:solidFill>
                  <a:srgbClr val="252D2A"/>
                </a:solidFill>
                <a:latin typeface="Malgun Gothic"/>
              </a:rPr>
              <a:t>두피 고민에는 고체 샴푸바의 개운한 사용감이,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>
                <a:solidFill>
                  <a:srgbClr val="252D2A"/>
                </a:solidFill>
                <a:latin typeface="Malgun Gothic"/>
              </a:rPr>
              <a:t>성분 걱정에는 순한 이미지가,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60">
                <a:solidFill>
                  <a:srgbClr val="252D2A"/>
                </a:solidFill>
                <a:latin typeface="Malgun Gothic"/>
              </a:rPr>
              <a:t>가치소비 욕구에는 제로웨이스트와 발달장애인 고용 미션이 연결됩니다.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5047488"/>
            <a:ext cx="6876288" cy="804672"/>
          </a:xfrm>
          <a:prstGeom prst="roundRect">
            <a:avLst/>
          </a:prstGeom>
          <a:solidFill>
            <a:srgbClr val="13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157216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919" b="1">
                <a:solidFill>
                  <a:srgbClr val="B8D480"/>
                </a:solidFill>
                <a:latin typeface="Malgun Gothic"/>
              </a:rPr>
              <a:t>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76672"/>
            <a:ext cx="6355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1340" b="1">
                <a:solidFill>
                  <a:srgbClr val="FFFFFF"/>
                </a:solidFill>
                <a:latin typeface="Malgun Gothic"/>
              </a:rPr>
              <a:t>동구밭은 사회적 가치를 앞세워 동정을 요구하는 브랜드가 아닙니다. 매일 쓰는 제품 경험을 통해, 소비자가 자연스럽게 가치를 믿게 만드는 브랜드입니다.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152144"/>
            <a:ext cx="3538728" cy="4773168"/>
          </a:xfrm>
          <a:prstGeom prst="roundRect">
            <a:avLst/>
          </a:prstGeom>
          <a:solidFill>
            <a:srgbClr val="EEF2E4"/>
          </a:solidFill>
          <a:ln w="12700">
            <a:solidFill>
              <a:srgbClr val="D3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389888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>
                <a:solidFill>
                  <a:srgbClr val="2A5D43"/>
                </a:solidFill>
                <a:latin typeface="Malgun Gothic"/>
              </a:rPr>
              <a:t>VISUAL DIRECTION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1005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66544"/>
            <a:ext cx="85953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80" b="1">
                <a:solidFill>
                  <a:srgbClr val="134032"/>
                </a:solidFill>
                <a:latin typeface="Malgun Gothic"/>
              </a:rPr>
              <a:t>페르소나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9144000" y="2194560"/>
            <a:ext cx="91440" cy="640080"/>
          </a:xfrm>
          <a:prstGeom prst="line">
            <a:avLst/>
          </a:prstGeom>
          <a:ln w="27940">
            <a:solidFill>
              <a:srgbClr val="134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743200"/>
            <a:ext cx="1005840" cy="530352"/>
          </a:xfrm>
          <a:prstGeom prst="roundRect">
            <a:avLst/>
          </a:prstGeom>
          <a:solidFill>
            <a:srgbClr val="DCEEE0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2889504"/>
            <a:ext cx="85953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80" b="1">
                <a:solidFill>
                  <a:srgbClr val="134032"/>
                </a:solidFill>
                <a:latin typeface="Malgun Gothic"/>
              </a:rPr>
              <a:t>제품 경험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0058400" y="3017520"/>
            <a:ext cx="91440" cy="640080"/>
          </a:xfrm>
          <a:prstGeom prst="line">
            <a:avLst/>
          </a:prstGeom>
          <a:ln w="27940">
            <a:solidFill>
              <a:srgbClr val="134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0" y="3566160"/>
            <a:ext cx="1005840" cy="530352"/>
          </a:xfrm>
          <a:prstGeom prst="roundRect">
            <a:avLst/>
          </a:prstGeom>
          <a:solidFill>
            <a:srgbClr val="2A5D43"/>
          </a:solidFill>
          <a:ln w="12700">
            <a:solidFill>
              <a:srgbClr val="CF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31552" y="3712463"/>
            <a:ext cx="85953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980" b="1">
                <a:solidFill>
                  <a:srgbClr val="FFFFFF"/>
                </a:solidFill>
                <a:latin typeface="Malgun Gothic"/>
              </a:rPr>
              <a:t>브랜드 신뢰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4700016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1450" b="1">
                <a:solidFill>
                  <a:srgbClr val="134032"/>
                </a:solidFill>
                <a:latin typeface="Malgun Gothic"/>
              </a:rPr>
              <a:t>가치를 믿게 되는 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5522976"/>
            <a:ext cx="2816352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lnSpc>
                <a:spcPct val="103000"/>
              </a:lnSpc>
            </a:pPr>
            <a:r>
              <a:rPr sz="819" b="0">
                <a:solidFill>
                  <a:srgbClr val="677068"/>
                </a:solidFill>
                <a:latin typeface="Malgun Gothic"/>
              </a:rPr>
              <a:t>페르소나 → 제품 경험 → 브랜드 신뢰로 이어지는 마무리 구조도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28232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677068"/>
                </a:solidFill>
                <a:latin typeface="Malgun Gothic"/>
              </a:rPr>
              <a:t>10/10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6501384"/>
            <a:ext cx="9326880" cy="10972"/>
          </a:xfrm>
          <a:prstGeom prst="rect">
            <a:avLst/>
          </a:prstGeom>
          <a:solidFill>
            <a:srgbClr val="D6D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44200" y="6419088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lnSpc>
                <a:spcPct val="103000"/>
              </a:lnSpc>
            </a:pPr>
            <a:r>
              <a:rPr sz="850" b="1">
                <a:solidFill>
                  <a:srgbClr val="2A5D43"/>
                </a:solidFill>
                <a:latin typeface="Malgun Gothic"/>
              </a:rPr>
              <a:t>DONGGUBAT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